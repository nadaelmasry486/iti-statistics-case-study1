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1"/>
                </a:solidFill>
                <a:latin typeface="Aptos Display"/>
              </a:defRPr>
            </a:pPr>
            <a:r>
              <a:t>Sampling, Missing Data &amp;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  <a:latin typeface="Aptos"/>
              </a:defRPr>
            </a:pPr>
            <a:r>
              <a:t>Part E — Can You Trust This Sample at All? | Part F — 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F3751"/>
                </a:solidFill>
                <a:latin typeface="Aptos Display"/>
              </a:defRPr>
            </a:pPr>
            <a:r>
              <a:t>Statistical Analysis Presentation</a:t>
            </a:r>
          </a:p>
          <a:p>
            <a:pPr algn="ctr">
              <a:defRPr sz="2000">
                <a:solidFill>
                  <a:srgbClr val="646464"/>
                </a:solidFill>
                <a:latin typeface="Aptos"/>
              </a:defRPr>
            </a:pPr>
            <a:r>
              <a:t>Sampling Design • Missing Data • Commute Time &amp; Academic Performance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1"/>
                </a:solidFill>
                <a:latin typeface="Aptos Display"/>
              </a:defRPr>
            </a:pPr>
            <a:r>
              <a:t>Part E — Can You Trust This Sample at All?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• Assess the original sampling method and potential selection bias.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• Check whether every ITI student had an equal chance of being selected.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• Identify systematic differences in response and missing-data patterns.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• Design a more appropriate sampling strategy for future data collection.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1"/>
                </a:solidFill>
                <a:latin typeface="Aptos Display"/>
              </a:defRPr>
            </a:pPr>
            <a:r>
              <a:t>E1 — Question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  <a:latin typeface="Aptos"/>
              </a:defRPr>
            </a:pPr>
            <a:r>
              <a:t>Name the sampling method.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10881360" cy="4480560"/>
          </a:xfrm>
          <a:prstGeom prst="roundRect">
            <a:avLst/>
          </a:prstGeom>
          <a:solidFill>
            <a:srgbClr val="F2F5F8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10378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F5496"/>
                </a:solidFill>
                <a:latin typeface="Aptos Display"/>
              </a:defRPr>
            </a:pPr>
            <a:r>
              <a:t>Answer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The sampling method is not simple random, stratified, cluster, or multistage sampling.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It is a voluntary response / self-selection sample because the memo states: "Anyone who wanted to answer, answered."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1"/>
                </a:solidFill>
                <a:latin typeface="Aptos Display"/>
              </a:defRPr>
            </a:pPr>
            <a:r>
              <a:t>E1 — Question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  <a:latin typeface="Aptos"/>
              </a:defRPr>
            </a:pPr>
            <a:r>
              <a:t>Did every ITI student have an equal chance of being selected?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10881360" cy="4480560"/>
          </a:xfrm>
          <a:prstGeom prst="roundRect">
            <a:avLst/>
          </a:prstGeom>
          <a:solidFill>
            <a:srgbClr val="F2F5F8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10378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F5496"/>
                </a:solidFill>
                <a:latin typeface="Aptos Display"/>
              </a:defRPr>
            </a:pPr>
            <a:r>
              <a:t>Answer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No. Every student did not have an equal chance of selection.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The exact sentence that breaks the requirement is: "Anyone who wanted to answer, answered."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This creates self-selection. The analysis also notes that Cairo students may have had greater exposure if coordinators publicized the survey through a branch group chat.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1"/>
                </a:solidFill>
                <a:latin typeface="Aptos Display"/>
              </a:defRPr>
            </a:pPr>
            <a:r>
              <a:t>E1 — Question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  <a:latin typeface="Aptos"/>
              </a:defRPr>
            </a:pPr>
            <a:r>
              <a:t>Which students are systematically less likely to have responded?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10881360" cy="4480560"/>
          </a:xfrm>
          <a:prstGeom prst="roundRect">
            <a:avLst/>
          </a:prstGeom>
          <a:solidFill>
            <a:srgbClr val="F2F5F8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10378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F5496"/>
                </a:solidFill>
                <a:latin typeface="Aptos Display"/>
              </a:defRPr>
            </a:pPr>
            <a:r>
              <a:t>Answer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Students without a laptop are likely to have less convenient access to the internal portal.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In the cleaned data: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• Has laptop = Yes: 212 students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• Has laptop = No: 53 students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Therefore, 20% of the cleaned observations are students without a laptop, which may contribute to response bias.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1"/>
                </a:solidFill>
                <a:latin typeface="Aptos Display"/>
              </a:defRPr>
            </a:pPr>
            <a:r>
              <a:t>E1 — Question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  <a:latin typeface="Aptos"/>
              </a:defRPr>
            </a:pPr>
            <a:r>
              <a:t>Identify the assumption in the memo and explain the possible effect.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10881360" cy="4480560"/>
          </a:xfrm>
          <a:prstGeom prst="roundRect">
            <a:avLst/>
          </a:prstGeom>
          <a:solidFill>
            <a:srgbClr val="F2F5F8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10378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F5496"/>
                </a:solidFill>
                <a:latin typeface="Aptos Display"/>
              </a:defRPr>
            </a:pPr>
            <a:r>
              <a:t>Answer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The assumption is: "We assumed they were the ones who did not care."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This may be unfair because non-response does not necessarily mean lack of interest. A student may not have seen the survey or may have had limited access to it.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If non-responders differ systematically from responders, the survey results may be biased.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1"/>
                </a:solidFill>
                <a:latin typeface="Aptos Display"/>
              </a:defRPr>
            </a:pPr>
            <a:r>
              <a:t>E2 — Design It Properly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• Population: 2,000 students.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• Five branches × five tracks.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• Goal: obtain a representative sample without relying on voluntary participation.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• Recommended design: Stratified Random Sampling.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1"/>
                </a:solidFill>
                <a:latin typeface="Aptos Display"/>
              </a:defRPr>
            </a:pPr>
            <a:r>
              <a:t>E2 — Question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  <a:latin typeface="Aptos"/>
              </a:defRPr>
            </a:pPr>
            <a:r>
              <a:t>Design the sampling strategy for the next term.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10881360" cy="4480560"/>
          </a:xfrm>
          <a:prstGeom prst="roundRect">
            <a:avLst/>
          </a:prstGeom>
          <a:solidFill>
            <a:srgbClr val="F2F5F8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10378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F5496"/>
                </a:solidFill>
                <a:latin typeface="Aptos Display"/>
              </a:defRPr>
            </a:pPr>
            <a:r>
              <a:t>Sampling strategy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Use Stratified Random Sampling.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Define strata using Branch × Track. With 5 branches and 5 tracks, there are 25 possible strata.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Students are selected randomly within each stratum, with the number selected from each stratum proportional to its size.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1"/>
                </a:solidFill>
                <a:latin typeface="Aptos Display"/>
              </a:defRPr>
            </a:pPr>
            <a:r>
              <a:t>E2 — Q1 | Proportional Allocation Table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  <a:latin typeface="Aptos"/>
              </a:defRPr>
            </a:pPr>
            <a:r>
              <a:t>Cleaned dataset — strata, proportions, and proposed sample sizes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  <a:latin typeface="Aptos"/>
              </a:defRPr>
            </a:pPr>
            <a:r>
              <a:t>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34440"/>
          <a:ext cx="992124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880360"/>
                <a:gridCol w="1234440"/>
                <a:gridCol w="2331720"/>
                <a:gridCol w="1325880"/>
              </a:tblGrid>
              <a:tr h="30575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Branch</a:t>
                      </a:r>
                    </a:p>
                  </a:txBody>
                  <a:tcPr anchor="ctr" marL="36576" marR="36576" marT="18288" marB="18288">
                    <a:solidFill>
                      <a:srgbClr val="1F375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Track</a:t>
                      </a:r>
                    </a:p>
                  </a:txBody>
                  <a:tcPr anchor="ctr" marL="36576" marR="36576" marT="18288" marB="18288">
                    <a:solidFill>
                      <a:srgbClr val="1F375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Count</a:t>
                      </a:r>
                    </a:p>
                  </a:txBody>
                  <a:tcPr anchor="ctr" marL="36576" marR="36576" marT="18288" marB="18288">
                    <a:solidFill>
                      <a:srgbClr val="1F375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Proportion</a:t>
                      </a:r>
                    </a:p>
                  </a:txBody>
                  <a:tcPr anchor="ctr" marL="36576" marR="36576" marT="18288" marB="18288">
                    <a:solidFill>
                      <a:srgbClr val="1F375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Sample Size</a:t>
                      </a:r>
                    </a:p>
                  </a:txBody>
                  <a:tcPr anchor="ctr" marL="36576" marR="36576" marT="18288" marB="18288">
                    <a:solidFill>
                      <a:srgbClr val="1F3751"/>
                    </a:solidFill>
                  </a:tcPr>
                </a:tc>
              </a:tr>
              <a:tr h="305752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Alexandria</a:t>
                      </a:r>
                    </a:p>
                  </a:txBody>
                  <a:tcPr anchor="ctr" marL="36576" marR="36576" marT="18288" marB="18288">
                    <a:solidFill>
                      <a:srgbClr val="E5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Cyber Security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7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0.026415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305752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Alexandria</a:t>
                      </a:r>
                    </a:p>
                  </a:txBody>
                  <a:tcPr anchor="ctr" marL="36576" marR="36576" marT="18288" marB="18288">
                    <a:solidFill>
                      <a:srgbClr val="E5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Data Science</a:t>
                      </a:r>
                    </a:p>
                  </a:txBody>
                  <a:tcPr anchor="ctr" marL="36576" marR="36576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12</a:t>
                      </a:r>
                    </a:p>
                  </a:txBody>
                  <a:tcPr anchor="ctr" marL="36576" marR="36576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0.045283</a:t>
                      </a:r>
                    </a:p>
                  </a:txBody>
                  <a:tcPr anchor="ctr" marL="36576" marR="36576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9</a:t>
                      </a:r>
                    </a:p>
                  </a:txBody>
                  <a:tcPr anchor="ctr" marL="36576" marR="36576" marT="18288" marB="18288">
                    <a:solidFill>
                      <a:srgbClr val="F2F5F8"/>
                    </a:solidFill>
                  </a:tcPr>
                </a:tc>
              </a:tr>
              <a:tr h="305752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Alexandria</a:t>
                      </a:r>
                    </a:p>
                  </a:txBody>
                  <a:tcPr anchor="ctr" marL="36576" marR="36576" marT="18288" marB="18288">
                    <a:solidFill>
                      <a:srgbClr val="E5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Embedded Systems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8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0.030189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6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305752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Alexandria</a:t>
                      </a:r>
                    </a:p>
                  </a:txBody>
                  <a:tcPr anchor="ctr" marL="36576" marR="36576" marT="18288" marB="18288">
                    <a:solidFill>
                      <a:srgbClr val="E5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UI/UX</a:t>
                      </a:r>
                    </a:p>
                  </a:txBody>
                  <a:tcPr anchor="ctr" marL="36576" marR="36576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7</a:t>
                      </a:r>
                    </a:p>
                  </a:txBody>
                  <a:tcPr anchor="ctr" marL="36576" marR="36576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0.026415</a:t>
                      </a:r>
                    </a:p>
                  </a:txBody>
                  <a:tcPr anchor="ctr" marL="36576" marR="36576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 anchor="ctr" marL="36576" marR="36576" marT="18288" marB="18288">
                    <a:solidFill>
                      <a:srgbClr val="F2F5F8"/>
                    </a:solidFill>
                  </a:tcPr>
                </a:tc>
              </a:tr>
              <a:tr h="305752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Alexandria</a:t>
                      </a:r>
                    </a:p>
                  </a:txBody>
                  <a:tcPr anchor="ctr" marL="36576" marR="36576" marT="18288" marB="18288">
                    <a:solidFill>
                      <a:srgbClr val="E5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Web Development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21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0.079245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16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305752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Assiut</a:t>
                      </a:r>
                    </a:p>
                  </a:txBody>
                  <a:tcPr anchor="ctr" marL="36576" marR="36576" marT="18288" marB="18288">
                    <a:solidFill>
                      <a:srgbClr val="E5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Cyber Security</a:t>
                      </a:r>
                    </a:p>
                  </a:txBody>
                  <a:tcPr anchor="ctr" marL="36576" marR="36576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 anchor="ctr" marL="36576" marR="36576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0.015094</a:t>
                      </a:r>
                    </a:p>
                  </a:txBody>
                  <a:tcPr anchor="ctr" marL="36576" marR="36576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 anchor="ctr" marL="36576" marR="36576" marT="18288" marB="18288">
                    <a:solidFill>
                      <a:srgbClr val="F2F5F8"/>
                    </a:solidFill>
                  </a:tcPr>
                </a:tc>
              </a:tr>
              <a:tr h="305752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Assiut</a:t>
                      </a:r>
                    </a:p>
                  </a:txBody>
                  <a:tcPr anchor="ctr" marL="36576" marR="36576" marT="18288" marB="18288">
                    <a:solidFill>
                      <a:srgbClr val="E5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Data Science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13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0.049057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10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305752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Assiut</a:t>
                      </a:r>
                    </a:p>
                  </a:txBody>
                  <a:tcPr anchor="ctr" marL="36576" marR="36576" marT="18288" marB="18288">
                    <a:solidFill>
                      <a:srgbClr val="E5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Embedded Systems</a:t>
                      </a:r>
                    </a:p>
                  </a:txBody>
                  <a:tcPr anchor="ctr" marL="36576" marR="36576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 anchor="ctr" marL="36576" marR="36576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0.015094</a:t>
                      </a:r>
                    </a:p>
                  </a:txBody>
                  <a:tcPr anchor="ctr" marL="36576" marR="36576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 anchor="ctr" marL="36576" marR="36576" marT="18288" marB="18288">
                    <a:solidFill>
                      <a:srgbClr val="F2F5F8"/>
                    </a:solidFill>
                  </a:tcPr>
                </a:tc>
              </a:tr>
              <a:tr h="305752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Assiut</a:t>
                      </a:r>
                    </a:p>
                  </a:txBody>
                  <a:tcPr anchor="ctr" marL="36576" marR="36576" marT="18288" marB="18288">
                    <a:solidFill>
                      <a:srgbClr val="E5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UI/UX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0.007547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305752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Assiut</a:t>
                      </a:r>
                    </a:p>
                  </a:txBody>
                  <a:tcPr anchor="ctr" marL="36576" marR="36576" marT="18288" marB="18288">
                    <a:solidFill>
                      <a:srgbClr val="E5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Web Development</a:t>
                      </a:r>
                    </a:p>
                  </a:txBody>
                  <a:tcPr anchor="ctr" marL="36576" marR="36576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9</a:t>
                      </a:r>
                    </a:p>
                  </a:txBody>
                  <a:tcPr anchor="ctr" marL="36576" marR="36576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0.033962</a:t>
                      </a:r>
                    </a:p>
                  </a:txBody>
                  <a:tcPr anchor="ctr" marL="36576" marR="36576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7</a:t>
                      </a:r>
                    </a:p>
                  </a:txBody>
                  <a:tcPr anchor="ctr" marL="36576" marR="36576" marT="18288" marB="18288">
                    <a:solidFill>
                      <a:srgbClr val="F2F5F8"/>
                    </a:solidFill>
                  </a:tcPr>
                </a:tc>
              </a:tr>
              <a:tr h="305752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Cairo</a:t>
                      </a:r>
                    </a:p>
                  </a:txBody>
                  <a:tcPr anchor="ctr" marL="36576" marR="36576" marT="18288" marB="18288">
                    <a:solidFill>
                      <a:srgbClr val="E5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Cyber Security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16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0.060377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12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305752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Cairo</a:t>
                      </a:r>
                    </a:p>
                  </a:txBody>
                  <a:tcPr anchor="ctr" marL="36576" marR="36576" marT="18288" marB="18288">
                    <a:solidFill>
                      <a:srgbClr val="E5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Data Science</a:t>
                      </a:r>
                    </a:p>
                  </a:txBody>
                  <a:tcPr anchor="ctr" marL="36576" marR="36576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34</a:t>
                      </a:r>
                    </a:p>
                  </a:txBody>
                  <a:tcPr anchor="ctr" marL="36576" marR="36576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0.128302</a:t>
                      </a:r>
                    </a:p>
                  </a:txBody>
                  <a:tcPr anchor="ctr" marL="36576" marR="36576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26</a:t>
                      </a:r>
                    </a:p>
                  </a:txBody>
                  <a:tcPr anchor="ctr" marL="36576" marR="36576" marT="18288" marB="18288">
                    <a:solidFill>
                      <a:srgbClr val="F2F5F8"/>
                    </a:solidFill>
                  </a:tcPr>
                </a:tc>
              </a:tr>
              <a:tr h="305752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Cairo</a:t>
                      </a:r>
                    </a:p>
                  </a:txBody>
                  <a:tcPr anchor="ctr" marL="36576" marR="36576" marT="18288" marB="18288">
                    <a:solidFill>
                      <a:srgbClr val="E5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Embedded Systems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13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0.049057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10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305752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Cairo</a:t>
                      </a:r>
                    </a:p>
                  </a:txBody>
                  <a:tcPr anchor="ctr" marL="36576" marR="36576" marT="18288" marB="18288">
                    <a:solidFill>
                      <a:srgbClr val="E5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UI/UX</a:t>
                      </a:r>
                    </a:p>
                  </a:txBody>
                  <a:tcPr anchor="ctr" marL="36576" marR="36576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15</a:t>
                      </a:r>
                    </a:p>
                  </a:txBody>
                  <a:tcPr anchor="ctr" marL="36576" marR="36576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0.056604</a:t>
                      </a:r>
                    </a:p>
                  </a:txBody>
                  <a:tcPr anchor="ctr" marL="36576" marR="36576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11</a:t>
                      </a:r>
                    </a:p>
                  </a:txBody>
                  <a:tcPr anchor="ctr" marL="36576" marR="36576" marT="18288" marB="18288">
                    <a:solidFill>
                      <a:srgbClr val="F2F5F8"/>
                    </a:solidFill>
                  </a:tcPr>
                </a:tc>
              </a:tr>
              <a:tr h="30576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Cairo</a:t>
                      </a:r>
                    </a:p>
                  </a:txBody>
                  <a:tcPr anchor="ctr" marL="36576" marR="36576" marT="18288" marB="18288">
                    <a:solidFill>
                      <a:srgbClr val="E5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Web Development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23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0.086792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17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1"/>
                </a:solidFill>
                <a:latin typeface="Aptos Display"/>
              </a:defRPr>
            </a:pPr>
            <a:r>
              <a:t>E2 — Q1 | Proportional Allocation Table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  <a:latin typeface="Aptos"/>
              </a:defRPr>
            </a:pPr>
            <a:r>
              <a:t>Cleaned dataset — remaining branch × track strata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  <a:latin typeface="Aptos"/>
              </a:defRPr>
            </a:pPr>
            <a: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34440"/>
          <a:ext cx="992124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880360"/>
                <a:gridCol w="1234440"/>
                <a:gridCol w="2331720"/>
                <a:gridCol w="1325880"/>
              </a:tblGrid>
              <a:tr h="44473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Branch</a:t>
                      </a:r>
                    </a:p>
                  </a:txBody>
                  <a:tcPr anchor="ctr" marL="36576" marR="36576" marT="18288" marB="18288">
                    <a:solidFill>
                      <a:srgbClr val="1F375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Track</a:t>
                      </a:r>
                    </a:p>
                  </a:txBody>
                  <a:tcPr anchor="ctr" marL="36576" marR="36576" marT="18288" marB="18288">
                    <a:solidFill>
                      <a:srgbClr val="1F375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Count</a:t>
                      </a:r>
                    </a:p>
                  </a:txBody>
                  <a:tcPr anchor="ctr" marL="36576" marR="36576" marT="18288" marB="18288">
                    <a:solidFill>
                      <a:srgbClr val="1F375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Proportion</a:t>
                      </a:r>
                    </a:p>
                  </a:txBody>
                  <a:tcPr anchor="ctr" marL="36576" marR="36576" marT="18288" marB="18288">
                    <a:solidFill>
                      <a:srgbClr val="1F375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Sample Size</a:t>
                      </a:r>
                    </a:p>
                  </a:txBody>
                  <a:tcPr anchor="ctr" marL="36576" marR="36576" marT="18288" marB="18288">
                    <a:solidFill>
                      <a:srgbClr val="1F3751"/>
                    </a:solidFill>
                  </a:tcPr>
                </a:tc>
              </a:tr>
              <a:tr h="44473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Mansoura</a:t>
                      </a:r>
                    </a:p>
                  </a:txBody>
                  <a:tcPr anchor="ctr" marL="36576" marR="36576" marT="18288" marB="18288">
                    <a:solidFill>
                      <a:srgbClr val="E5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Cyber Security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6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0.022642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44473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Mansoura</a:t>
                      </a:r>
                    </a:p>
                  </a:txBody>
                  <a:tcPr anchor="ctr" marL="36576" marR="36576" marT="18288" marB="18288">
                    <a:solidFill>
                      <a:srgbClr val="E5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Data Science</a:t>
                      </a:r>
                    </a:p>
                  </a:txBody>
                  <a:tcPr anchor="ctr" marL="36576" marR="36576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16</a:t>
                      </a:r>
                    </a:p>
                  </a:txBody>
                  <a:tcPr anchor="ctr" marL="36576" marR="36576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0.060377</a:t>
                      </a:r>
                    </a:p>
                  </a:txBody>
                  <a:tcPr anchor="ctr" marL="36576" marR="36576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12</a:t>
                      </a:r>
                    </a:p>
                  </a:txBody>
                  <a:tcPr anchor="ctr" marL="36576" marR="36576" marT="18288" marB="18288">
                    <a:solidFill>
                      <a:srgbClr val="F2F5F8"/>
                    </a:solidFill>
                  </a:tcPr>
                </a:tc>
              </a:tr>
              <a:tr h="44473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Mansoura</a:t>
                      </a:r>
                    </a:p>
                  </a:txBody>
                  <a:tcPr anchor="ctr" marL="36576" marR="36576" marT="18288" marB="18288">
                    <a:solidFill>
                      <a:srgbClr val="E5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Embedded Systems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7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0.026415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44473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Mansoura</a:t>
                      </a:r>
                    </a:p>
                  </a:txBody>
                  <a:tcPr anchor="ctr" marL="36576" marR="36576" marT="18288" marB="18288">
                    <a:solidFill>
                      <a:srgbClr val="E5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UI/UX</a:t>
                      </a:r>
                    </a:p>
                  </a:txBody>
                  <a:tcPr anchor="ctr" marL="36576" marR="36576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6</a:t>
                      </a:r>
                    </a:p>
                  </a:txBody>
                  <a:tcPr anchor="ctr" marL="36576" marR="36576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0.022642</a:t>
                      </a:r>
                    </a:p>
                  </a:txBody>
                  <a:tcPr anchor="ctr" marL="36576" marR="36576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 anchor="ctr" marL="36576" marR="36576" marT="18288" marB="18288">
                    <a:solidFill>
                      <a:srgbClr val="F2F5F8"/>
                    </a:solidFill>
                  </a:tcPr>
                </a:tc>
              </a:tr>
              <a:tr h="44473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Mansoura</a:t>
                      </a:r>
                    </a:p>
                  </a:txBody>
                  <a:tcPr anchor="ctr" marL="36576" marR="36576" marT="18288" marB="18288">
                    <a:solidFill>
                      <a:srgbClr val="E5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Web Development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8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0.030189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6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44473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Menoufia</a:t>
                      </a:r>
                    </a:p>
                  </a:txBody>
                  <a:tcPr anchor="ctr" marL="36576" marR="36576" marT="18288" marB="18288">
                    <a:solidFill>
                      <a:srgbClr val="E5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Cyber Security</a:t>
                      </a:r>
                    </a:p>
                  </a:txBody>
                  <a:tcPr anchor="ctr" marL="36576" marR="36576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7</a:t>
                      </a:r>
                    </a:p>
                  </a:txBody>
                  <a:tcPr anchor="ctr" marL="36576" marR="36576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0.026415</a:t>
                      </a:r>
                    </a:p>
                  </a:txBody>
                  <a:tcPr anchor="ctr" marL="36576" marR="36576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 anchor="ctr" marL="36576" marR="36576" marT="18288" marB="18288">
                    <a:solidFill>
                      <a:srgbClr val="F2F5F8"/>
                    </a:solidFill>
                  </a:tcPr>
                </a:tc>
              </a:tr>
              <a:tr h="44473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Menoufia</a:t>
                      </a:r>
                    </a:p>
                  </a:txBody>
                  <a:tcPr anchor="ctr" marL="36576" marR="36576" marT="18288" marB="18288">
                    <a:solidFill>
                      <a:srgbClr val="E5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Data Science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13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0.049057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10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44473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Menoufia</a:t>
                      </a:r>
                    </a:p>
                  </a:txBody>
                  <a:tcPr anchor="ctr" marL="36576" marR="36576" marT="18288" marB="18288">
                    <a:solidFill>
                      <a:srgbClr val="E5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Embedded Systems</a:t>
                      </a:r>
                    </a:p>
                  </a:txBody>
                  <a:tcPr anchor="ctr" marL="36576" marR="36576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anchor="ctr" marL="36576" marR="36576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0.003774</a:t>
                      </a:r>
                    </a:p>
                  </a:txBody>
                  <a:tcPr anchor="ctr" marL="36576" marR="36576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anchor="ctr" marL="36576" marR="36576" marT="18288" marB="18288">
                    <a:solidFill>
                      <a:srgbClr val="F2F5F8"/>
                    </a:solidFill>
                  </a:tcPr>
                </a:tc>
              </a:tr>
              <a:tr h="44473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Menoufia</a:t>
                      </a:r>
                    </a:p>
                  </a:txBody>
                  <a:tcPr anchor="ctr" marL="36576" marR="36576" marT="18288" marB="18288">
                    <a:solidFill>
                      <a:srgbClr val="E5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UI/UX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0.015094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44474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Menoufia</a:t>
                      </a:r>
                    </a:p>
                  </a:txBody>
                  <a:tcPr anchor="ctr" marL="36576" marR="36576" marT="18288" marB="18288">
                    <a:solidFill>
                      <a:srgbClr val="E5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Web Development</a:t>
                      </a:r>
                    </a:p>
                  </a:txBody>
                  <a:tcPr anchor="ctr" marL="36576" marR="36576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9</a:t>
                      </a:r>
                    </a:p>
                  </a:txBody>
                  <a:tcPr anchor="ctr" marL="36576" marR="36576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0.033962</a:t>
                      </a:r>
                    </a:p>
                  </a:txBody>
                  <a:tcPr anchor="ctr" marL="36576" marR="36576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7</a:t>
                      </a:r>
                    </a:p>
                  </a:txBody>
                  <a:tcPr anchor="ctr" marL="36576" marR="36576" marT="18288" marB="18288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1"/>
                </a:solidFill>
                <a:latin typeface="Aptos Display"/>
              </a:defRPr>
            </a:pPr>
            <a:r>
              <a:t>E2 — Q1 | Proportional Allocation 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11201400" cy="5074920"/>
          </a:xfrm>
          <a:prstGeom prst="roundRect">
            <a:avLst/>
          </a:prstGeom>
          <a:solidFill>
            <a:srgbClr val="1C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65276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BEEF0"/>
                </a:solidFill>
                <a:latin typeface="Consolas"/>
              </a:defRPr>
            </a:pPr>
            <a:r>
              <a:t># Count students in each Branch × Track stratum</a:t>
            </a:r>
            <a:br/>
            <a:r>
              <a:t>strata = (</a:t>
            </a:r>
            <a:br/>
            <a:r>
              <a:t>    df_clean</a:t>
            </a:r>
            <a:br/>
            <a:r>
              <a:t>    .groupby(["branch", "track"])</a:t>
            </a:r>
            <a:br/>
            <a:r>
              <a:t>    .size()</a:t>
            </a:r>
            <a:br/>
            <a:r>
              <a:t>    .reset_index(name="count")</a:t>
            </a:r>
            <a:br/>
            <a:r>
              <a:t>)</a:t>
            </a:r>
            <a:br/>
            <a:br/>
            <a:r>
              <a:t># Calculate each stratum's proportion</a:t>
            </a:r>
            <a:br/>
            <a:r>
              <a:t>strata["proportion"] = strata["count"] / len(df_clean)</a:t>
            </a:r>
            <a:br/>
            <a:br/>
            <a:r>
              <a:t># Proportional allocation for a sample of 200 students</a:t>
            </a:r>
            <a:br/>
            <a:r>
              <a:t>sample_size = 200</a:t>
            </a:r>
            <a:br/>
            <a:br/>
            <a:r>
              <a:t>strata["sample_size"] = (</a:t>
            </a:r>
            <a:br/>
            <a:r>
              <a:t>    strata["proportion"] * sample_size</a:t>
            </a:r>
            <a:br/>
            <a:r>
              <a:t>).round().astype(int)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1"/>
                </a:solidFill>
                <a:latin typeface="Aptos Display"/>
              </a:defRPr>
            </a:pPr>
            <a:r>
              <a:t>E2 — Q1 | Explanation of the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10881360" cy="4480560"/>
          </a:xfrm>
          <a:prstGeom prst="roundRect">
            <a:avLst/>
          </a:prstGeom>
          <a:solidFill>
            <a:srgbClr val="F2F5F8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10378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F5496"/>
                </a:solidFill>
                <a:latin typeface="Aptos Display"/>
              </a:defRPr>
            </a:pPr>
            <a:r>
              <a:t>Answer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I would use Stratified Random Sampling.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The strata would be defined by branch and track, giving us 25 possible branch-track strata (5 branches × 5 tracks).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Using the cleaned dataset, we calculate the proportion of students in each branch-track stratum. For a target sample of 200 students, the sample is allocated proportionally across the strata.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For each stratum: Sample size = Stratum proportion × 200.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For example, if a branch-track group represents 10% of the cleaned sample, approximately 20 students would be selected from that group.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Students should then be selected randomly within each branch-track group. This ensures representation of different branches and tracks rather than relying on voluntary responses.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1"/>
                </a:solidFill>
                <a:latin typeface="Aptos Display"/>
              </a:defRPr>
            </a:pPr>
            <a:r>
              <a:t>E2 — Q1 | Important Note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10881360" cy="4480560"/>
          </a:xfrm>
          <a:prstGeom prst="roundRect">
            <a:avLst/>
          </a:prstGeom>
          <a:solidFill>
            <a:srgbClr val="F2F5F8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10378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F5496"/>
                </a:solidFill>
                <a:latin typeface="Aptos Display"/>
              </a:defRPr>
            </a:pPr>
            <a:r>
              <a:t>Interpretation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The cleaned dataset is used here to demonstrate proportional allocation.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The actual population counts for all 25 branch-track strata would be needed to calculate the exact allocation for the full population of 2,000 students.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1"/>
                </a:solidFill>
                <a:latin typeface="Aptos Display"/>
              </a:defRPr>
            </a:pPr>
            <a:r>
              <a:t>E2 — Question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  <a:latin typeface="Aptos"/>
              </a:defRPr>
            </a:pPr>
            <a:r>
              <a:t>Why is stratified sampling better than a simple random sample of the same size?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• It helps ensure that all five branches and five tracks are represented.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• A simple random sample could, by chance, contain too many students from some groups and too few from others.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• Stratification improves representation of the different groups in the population.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• Students are still randomly selected within each stratum, preserving the random-selection principle.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1"/>
                </a:solidFill>
                <a:latin typeface="Aptos Display"/>
              </a:defRPr>
            </a:pPr>
            <a:r>
              <a:t>E2 — Question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  <a:latin typeface="Aptos"/>
              </a:defRPr>
            </a:pPr>
            <a:r>
              <a:t>Randomly pick two whole branches and survey everyone in them.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10881360" cy="4480560"/>
          </a:xfrm>
          <a:prstGeom prst="roundRect">
            <a:avLst/>
          </a:prstGeom>
          <a:solidFill>
            <a:srgbClr val="F2F5F8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10378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F5496"/>
                </a:solidFill>
                <a:latin typeface="Aptos Display"/>
              </a:defRPr>
            </a:pPr>
            <a:r>
              <a:t>Answer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Sampling method: Cluster Sampling.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Gain: It is easier and cheaper to collect data because the survey is concentrated in only two branches.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Risk: The selected branches may not represent the other branches. This could reduce representativeness if branches differ in commute time, tracks, or other characteristics.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1"/>
                </a:solidFill>
                <a:latin typeface="Aptos Display"/>
              </a:defRPr>
            </a:pPr>
            <a:r>
              <a:t>E2 — Question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  <a:latin typeface="Aptos"/>
              </a:defRPr>
            </a:pPr>
            <a:r>
              <a:t>Represent every branch and every track.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10881360" cy="4480560"/>
          </a:xfrm>
          <a:prstGeom prst="roundRect">
            <a:avLst/>
          </a:prstGeom>
          <a:solidFill>
            <a:srgbClr val="F2F5F8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10378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F5496"/>
                </a:solidFill>
                <a:latin typeface="Aptos Display"/>
              </a:defRPr>
            </a:pPr>
            <a:r>
              <a:t>Answer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Choose Stratified Random Sampling, using branch and track as the strata.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This ensures that every branch and every track is represented while students are randomly selected within each group.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It reduces the risk of some branches or tracks being overrepresented or underrepresented in the sample.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1"/>
                </a:solidFill>
                <a:latin typeface="Aptos Display"/>
              </a:defRPr>
            </a:pPr>
            <a:r>
              <a:t>E3 — Missing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• Identify the variable with the largest number of missing observations.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• Check whether missingness is distributed evenly across branches.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• Check whether missingness is distributed evenly across tracks.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• Explain how unequal missingness can affect conclusions and generalization.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1"/>
                </a:solidFill>
                <a:latin typeface="Aptos Display"/>
              </a:defRPr>
            </a:pPr>
            <a:r>
              <a:t>E3 — Question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  <a:latin typeface="Aptos"/>
              </a:defRPr>
            </a:pPr>
            <a:r>
              <a:t>Which variable has the most missing values?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10881360" cy="4480560"/>
          </a:xfrm>
          <a:prstGeom prst="roundRect">
            <a:avLst/>
          </a:prstGeom>
          <a:solidFill>
            <a:srgbClr val="F2F5F8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10378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F5496"/>
                </a:solidFill>
                <a:latin typeface="Aptos Display"/>
              </a:defRPr>
            </a:pPr>
            <a:r>
              <a:t>Answer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The variable with the most missing values is favorite_sport, with 56 missing values in the cleaned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  <a:latin typeface="Aptos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1"/>
                </a:solidFill>
                <a:latin typeface="Aptos Display"/>
              </a:defRPr>
            </a:pPr>
            <a:r>
              <a:t>E3 — Question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  <a:latin typeface="Aptos"/>
              </a:defRPr>
            </a:pPr>
            <a:r>
              <a:t>Is missing data evenly distributed across branches?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10881360" cy="4480560"/>
          </a:xfrm>
          <a:prstGeom prst="roundRect">
            <a:avLst/>
          </a:prstGeom>
          <a:solidFill>
            <a:srgbClr val="F2F5F8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10378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F5496"/>
                </a:solidFill>
                <a:latin typeface="Aptos Display"/>
              </a:defRPr>
            </a:pPr>
            <a:r>
              <a:t>Answer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No. The missing values are not evenly distributed across branches.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• Menoufia has the highest missing-data percentage: approximately 29.4%.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• Mansoura has the lowest: approximately 16.3%.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This suggests that missingness may be concentrated in certain branches rather than being completely random.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  <a:latin typeface="Aptos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1"/>
                </a:solidFill>
                <a:latin typeface="Aptos Display"/>
              </a:defRPr>
            </a:pPr>
            <a:r>
              <a:t>E3 — Question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  <a:latin typeface="Aptos"/>
              </a:defRPr>
            </a:pPr>
            <a:r>
              <a:t>What about across tracks?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10881360" cy="4480560"/>
          </a:xfrm>
          <a:prstGeom prst="roundRect">
            <a:avLst/>
          </a:prstGeom>
          <a:solidFill>
            <a:srgbClr val="F2F5F8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10378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F5496"/>
                </a:solidFill>
                <a:latin typeface="Aptos Display"/>
              </a:defRPr>
            </a:pPr>
            <a:r>
              <a:t>Answer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Missing data is also not evenly distributed across tracks.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• UI/UX: about 29.4%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• Web Development: about 27.1%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• Cyber Security: about 20.0%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• Data Science: about 17.0%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• Embedded Systems: about 12.1%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Some tracks therefore have noticeably higher missing-data rates than others.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  <a:latin typeface="Aptos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1"/>
                </a:solidFill>
                <a:latin typeface="Aptos Display"/>
              </a:defRPr>
            </a:pPr>
            <a:r>
              <a:t>E3 — Question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  <a:latin typeface="Aptos"/>
              </a:defRPr>
            </a:pPr>
            <a:r>
              <a:t>Why does this matter for your conclusions?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10881360" cy="4480560"/>
          </a:xfrm>
          <a:prstGeom prst="roundRect">
            <a:avLst/>
          </a:prstGeom>
          <a:solidFill>
            <a:srgbClr val="F2F5F8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10378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F5496"/>
                </a:solidFill>
                <a:latin typeface="Aptos Display"/>
              </a:defRPr>
            </a:pPr>
            <a:r>
              <a:t>Answer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If missing values are concentrated in particular branches or tracks, simply ignoring those students can change the composition of the analyzed sample.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For example, if one track has much more missing data than another, analyses using that variable may represent students with available responses more than the whole population.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Therefore, the amount and distribution of missing data should be reported, and conclusions should be generalized carefully.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  <a:latin typeface="Aptos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1"/>
                </a:solidFill>
                <a:latin typeface="Aptos Display"/>
              </a:defRPr>
            </a:pPr>
            <a:r>
              <a:t>Part F —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• Assess the relationship between commute time and final score.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• Compare commute groups and branch-level commute patterns.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• Identify a practical threshold for relatively long commutes.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• Interpret the evidence alongside sampling and missing-data limitations.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  <a:latin typeface="Aptos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1"/>
                </a:solidFill>
                <a:latin typeface="Aptos Display"/>
              </a:defRPr>
            </a:pPr>
            <a:r>
              <a:t>Part F —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  <a:latin typeface="Aptos"/>
              </a:defRPr>
            </a:pPr>
            <a:r>
              <a:t>Main finding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10881360" cy="4480560"/>
          </a:xfrm>
          <a:prstGeom prst="roundRect">
            <a:avLst/>
          </a:prstGeom>
          <a:solidFill>
            <a:srgbClr val="F2F5F8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10378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F5496"/>
                </a:solidFill>
                <a:latin typeface="Aptos Display"/>
              </a:defRPr>
            </a:pPr>
            <a:r>
              <a:t>Conclusion from the cleaned dataset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Commute time does not show a strong relationship with students’ final scores.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The correlation between commute time and final score is -0.059, indicating a very weak negative relationship.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Therefore, the data does not provide strong evidence that longer commuting is associated with substantially lower academic performance.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  <a:latin typeface="Aptos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1"/>
                </a:solidFill>
                <a:latin typeface="Aptos Display"/>
              </a:defRPr>
            </a:pPr>
            <a:r>
              <a:t>Part F —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• Overall mean commute time: 45.09 minutes.</a:t>
            </a:r>
          </a:p>
          <a:p>
            <a:pPr>
              <a:spcAft>
                <a:spcPts val="10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• Median commute time: 33 minutes.</a:t>
            </a:r>
          </a:p>
          <a:p>
            <a:pPr>
              <a:spcAft>
                <a:spcPts val="10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• The difference between mean and median, together with the right-skewed distribution, indicates some students have much longer commutes.</a:t>
            </a:r>
          </a:p>
          <a:p>
            <a:pPr>
              <a:spcAft>
                <a:spcPts val="10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• Cairo has the highest mean commute time: 59.97 minutes.</a:t>
            </a:r>
          </a:p>
          <a:p>
            <a:pPr>
              <a:spcAft>
                <a:spcPts val="10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• Assiut has the lowest commute-time standard deviation: 16.06 minutes, indicating less variation within that branch.</a:t>
            </a:r>
          </a:p>
          <a:p>
            <a:pPr>
              <a:spcAft>
                <a:spcPts val="10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• Median split: short-commute mean final score = 79.74; long-commute mean = 78.96.</a:t>
            </a:r>
          </a:p>
          <a:p>
            <a:pPr>
              <a:spcAft>
                <a:spcPts val="10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• Difference between the two groups = 0.78 points.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  <a:latin typeface="Aptos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1"/>
                </a:solidFill>
                <a:latin typeface="Aptos Display"/>
              </a:defRPr>
            </a:pPr>
            <a:r>
              <a:t>Part F — Comparison with Other 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• Study hours vs. final score: correlation = 0.645.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• Sleep hours vs. final score: correlation = 0.164.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• Commute time vs. final score: correlation = -0.059.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• The study-hours correlation is substantially stronger than the commute-time correlation.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• These correlations describe association only; they do not establish causation.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  <a:latin typeface="Aptos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1"/>
                </a:solidFill>
                <a:latin typeface="Aptos Display"/>
              </a:defRPr>
            </a:pPr>
            <a:r>
              <a:t>Part F — Eligibility Threshold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  <a:latin typeface="Aptos"/>
              </a:defRPr>
            </a:pPr>
            <a:r>
              <a:t>Identifying relatively long commutes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10881360" cy="4480560"/>
          </a:xfrm>
          <a:prstGeom prst="roundRect">
            <a:avLst/>
          </a:prstGeom>
          <a:solidFill>
            <a:srgbClr val="F2F5F8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10378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F5496"/>
                </a:solidFill>
                <a:latin typeface="Aptos Display"/>
              </a:defRPr>
            </a:pPr>
            <a:r>
              <a:t>Practical screening threshold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The third quartile (Q3) of commute time is 58.3 minutes.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Students with commute times of 58.3 minutes or more can therefore be classified as having relatively long commutes for further investigation.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This is a screening criterion, not evidence that these students necessarily have lower academic performance.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  <a:latin typeface="Aptos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1"/>
                </a:solidFill>
                <a:latin typeface="Aptos Display"/>
              </a:defRPr>
            </a:pPr>
            <a:r>
              <a:t>Part F —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• The sample was based on voluntary responses rather than random selection, which can introduce response bias.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• The dataset contains missing values, particularly in favorite_sport (56 missing observations).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• Correlation does not establish causation.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• The weak commute–score correlation does not prove that commuting has no effect on academic performance.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• Other factors, such as study time, branch, or individual circumstances, may also affect final scores.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  <a:latin typeface="Aptos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1"/>
                </a:solidFill>
                <a:latin typeface="Aptos Display"/>
              </a:defRPr>
            </a:pPr>
            <a:r>
              <a:t>Part F —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• Collect a more representative sample using stratified random sampling.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• Ensure that branches and tracks are adequately represented.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• Record additional factors that may affect academic performance, such as study conditions and other relevant student circumstances.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• Identify students meeting the 58.3-minute threshold for further investigation.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• Do not base support decisions on commute time alone; stronger conclusions require additional data and a more representative sample.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  <a:latin typeface="Aptos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1"/>
                </a:solidFill>
                <a:latin typeface="Aptos Display"/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• The original survey used voluntary response / self-selection, not a probability sampling method.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• Stratified random sampling by branch × track is a suitable design for the next survey.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• Missing data is not evenly distributed across branches and tracks and should be considered in analysis.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• Commute time has a very weak observed correlation with final score in the cleaned dataset.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• A more representative sample and additional variables are needed before making stronger generalizations.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  <a:latin typeface="Aptos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